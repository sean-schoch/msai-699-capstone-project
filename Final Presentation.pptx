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02C"/>
    <a:srgbClr val="FF7F0E"/>
    <a:srgbClr val="1D76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A37BE-E4A7-9FEC-2F10-576F962C7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341CA-E7F1-BA56-74EF-FA3B9261F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01D7-B331-D2CD-6BD0-CA776BE1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49A20-1EB3-5399-CF97-7F315D3C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536D6-F6DF-8E7E-1B36-BE45B8DE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9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B4F8-99C7-115D-E52D-57129C4C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D727-C7CB-3C38-C800-9C354C04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70C0D-70CB-C89A-B2E5-09258C3D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5C4B-E241-945E-CFD7-60E87AA5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3BEC8-2729-AB54-FBCE-70A29349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3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C709-4D99-BE38-2819-A209F356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7596F-3621-875B-5191-3D7FF8CF6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2776B-7006-6EA7-86F8-4ADC4512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1B4BD-8EFA-3557-3A35-347EB02D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48D65-9DCD-7E56-D6A6-6F8185E3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D173-DABC-F617-7D80-4D16C603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EDA08-077F-169B-F1B7-52AF4B684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E2AD2-72D5-D31A-4CA0-ED76C212D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CA501-3961-4CCE-6EAC-36552187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DDBAB-7C48-6D0A-8635-18ADB651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7BEF72-FD0C-A60B-BA65-AE75B801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06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60706-5D0D-E7EA-A529-4DF92EDA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C3EB8-7A15-D6B8-A9A6-CE2B62CA1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F3537-3180-1742-2B63-F2E3C3DBA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FC3C55-F06A-598C-76F1-C1B87ADEC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12ED25-4EC9-C406-5905-7C723869E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2CC4E-C893-BE4B-EFD3-23641DF2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3DFB31-FC5C-A6C6-7EC2-4567DE7B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9B4BE-014B-2D48-3BCB-B1F3A470B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97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FFB4-1371-FF38-06EF-81D65CD2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044558-5B7D-6287-FCB9-0B404773D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077CC-96AB-813C-B37B-B9E93B2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84B1B-6C1B-BC8D-979B-55903D93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7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C31BC-411D-D6B4-8042-F82FFC954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232B3-2FC1-AC87-E145-06071C11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BC7E7-F6B1-5C28-D3D1-9088ACC9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0CA9-2703-5AEE-81C6-14379060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AF87C-5019-D876-EFA7-B705B5B9F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6F027-B6AF-B43D-B77C-40E830F55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72D6C-E84F-9F4D-09EB-F1A604476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C14D-B259-0CB0-EAFC-535F1DE9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1DB6-0544-9A43-B64D-D542306B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6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72A40-3B3D-A82B-A2D6-16616B2F3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189725-B10F-48E0-0141-58DF07999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08E55-BE4F-E2B8-2AFF-29A2EA8E0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2E3D6-202F-64BC-AC3C-19B84E79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27C9E-C0B2-CF5E-E896-393DBBA89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7F51C-F83F-9949-3B73-87AEDA5E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57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90B29-A72F-C107-B957-2D83D2F7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E2E62-B65C-0B9D-1463-4FD7BB31B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2A39-59B0-5E64-A610-030BFA40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C66A2-60B3-67A8-4D49-A36933D0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3573-2B43-45BC-7C97-8D3912D4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5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F2495-6BCA-84BF-34F8-0CD209807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630F6-9D7B-EE2E-B6C1-76757297C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0774-1A89-6F64-BD5C-CB11D37F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F00C-FA91-3BD7-AD06-9F616B702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6A28A-FC66-199B-7E37-E3D43106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73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F09505-6422-4D21-1515-E178C827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389D6-146D-C436-71DD-3D065ABD9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27765-E581-D7A9-8E44-C5213D1EFB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60F61-1E71-4148-BA3F-8187014FA1A8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4B38F-EB57-FD9F-3BCC-4F6219651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88009-FE78-8409-1009-268990340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212AB-FC46-4F7B-B862-33AD279077A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373DE-243A-F54E-17F8-961BB38AD60B}"/>
              </a:ext>
            </a:extLst>
          </p:cNvPr>
          <p:cNvSpPr/>
          <p:nvPr userDrawn="1"/>
        </p:nvSpPr>
        <p:spPr>
          <a:xfrm>
            <a:off x="0" y="0"/>
            <a:ext cx="12192000" cy="230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0B303-BFB1-E4C3-937B-205F03114431}"/>
              </a:ext>
            </a:extLst>
          </p:cNvPr>
          <p:cNvSpPr/>
          <p:nvPr userDrawn="1"/>
        </p:nvSpPr>
        <p:spPr>
          <a:xfrm>
            <a:off x="0" y="6627812"/>
            <a:ext cx="12192000" cy="23018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43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45C3-F088-0CDF-DA7A-3F3959969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9907" y="254856"/>
            <a:ext cx="10152185" cy="2387600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Policy Aware, Explainable AI</a:t>
            </a:r>
            <a:br>
              <a:rPr lang="en-US" dirty="0">
                <a:latin typeface="Bahnschrift" panose="020B0502040204020203" pitchFamily="34" charset="0"/>
              </a:rPr>
            </a:br>
            <a:r>
              <a:rPr lang="en-US" sz="4000" dirty="0">
                <a:latin typeface="Bahnschrift" panose="020B0502040204020203" pitchFamily="34" charset="0"/>
              </a:rPr>
              <a:t>for Open-Source Crisis Report Triage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0B9AE-A697-0031-8CF9-C9FAF9B16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98653"/>
            <a:ext cx="9144000" cy="613507"/>
          </a:xfrm>
        </p:spPr>
        <p:txBody>
          <a:bodyPr/>
          <a:lstStyle/>
          <a:p>
            <a:r>
              <a:rPr lang="en-US" dirty="0"/>
              <a:t>Stakeholder Briefing | Sean Schoch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D27ADC-E1A4-8719-AE24-2BAD5A28E7EB}"/>
              </a:ext>
            </a:extLst>
          </p:cNvPr>
          <p:cNvGrpSpPr/>
          <p:nvPr/>
        </p:nvGrpSpPr>
        <p:grpSpPr>
          <a:xfrm>
            <a:off x="633046" y="3962398"/>
            <a:ext cx="10925907" cy="1031633"/>
            <a:chOff x="867508" y="3962398"/>
            <a:chExt cx="10925907" cy="103163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42BFE49-56CB-2B63-0F3B-ECCDC4132D06}"/>
                </a:ext>
              </a:extLst>
            </p:cNvPr>
            <p:cNvSpPr/>
            <p:nvPr/>
          </p:nvSpPr>
          <p:spPr>
            <a:xfrm>
              <a:off x="867508" y="3962400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Problem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7AB8298-235A-AAA7-437B-1A723850BD99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3106615" y="4478215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974293F-E748-4011-B651-35647CFB231A}"/>
                </a:ext>
              </a:extLst>
            </p:cNvPr>
            <p:cNvSpPr/>
            <p:nvPr/>
          </p:nvSpPr>
          <p:spPr>
            <a:xfrm>
              <a:off x="37631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Model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2D665DC-97F5-A9D9-6EC1-5D2B37386552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60022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3D57AEE-2E44-D6ED-223C-4C570EA31B47}"/>
                </a:ext>
              </a:extLst>
            </p:cNvPr>
            <p:cNvSpPr/>
            <p:nvPr/>
          </p:nvSpPr>
          <p:spPr>
            <a:xfrm>
              <a:off x="66587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Testing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7C95A26-1904-2955-54AB-2637215596F7}"/>
                </a:ext>
              </a:extLst>
            </p:cNvPr>
            <p:cNvCxnSpPr>
              <a:stCxn id="9" idx="3"/>
            </p:cNvCxnSpPr>
            <p:nvPr/>
          </p:nvCxnSpPr>
          <p:spPr>
            <a:xfrm flipV="1">
              <a:off x="88978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6E432A1-E7AD-B10E-22E9-0C5F5BC95BC9}"/>
                </a:ext>
              </a:extLst>
            </p:cNvPr>
            <p:cNvSpPr/>
            <p:nvPr/>
          </p:nvSpPr>
          <p:spPr>
            <a:xfrm>
              <a:off x="9554308" y="3962398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Human Review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0275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2FEE-228C-7973-A012-2E3AD857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4192677-A6F6-ADFD-FBAB-47B373812BFB}"/>
              </a:ext>
            </a:extLst>
          </p:cNvPr>
          <p:cNvGrpSpPr/>
          <p:nvPr/>
        </p:nvGrpSpPr>
        <p:grpSpPr>
          <a:xfrm>
            <a:off x="2080846" y="1242644"/>
            <a:ext cx="8030307" cy="1031632"/>
            <a:chOff x="867508" y="3962399"/>
            <a:chExt cx="8030307" cy="103163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9C46C02-98F2-7BA1-808D-6DA2341641D7}"/>
                </a:ext>
              </a:extLst>
            </p:cNvPr>
            <p:cNvSpPr/>
            <p:nvPr/>
          </p:nvSpPr>
          <p:spPr>
            <a:xfrm>
              <a:off x="867508" y="3962400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Useful Reports</a:t>
              </a:r>
            </a:p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Evacuations, damage, shelters, roads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B1C6974-9A99-4055-E555-7148A0E6D4AB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3106615" y="4478215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E0B8831-9FCC-1789-BB1C-3E0F624C2673}"/>
                </a:ext>
              </a:extLst>
            </p:cNvPr>
            <p:cNvSpPr/>
            <p:nvPr/>
          </p:nvSpPr>
          <p:spPr>
            <a:xfrm>
              <a:off x="37631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Noise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Duplicate, emotional, unrelated posts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FF143FF-3D22-907B-F18E-1F585F3385C1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60022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BBC90AA-D976-5479-4141-3497A99D0023}"/>
                </a:ext>
              </a:extLst>
            </p:cNvPr>
            <p:cNvSpPr/>
            <p:nvPr/>
          </p:nvSpPr>
          <p:spPr>
            <a:xfrm>
              <a:off x="66587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Risk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A missed report may matter more than extra review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4CCEEB9-F2B5-7E62-EE4D-4E9DA26D6026}"/>
              </a:ext>
            </a:extLst>
          </p:cNvPr>
          <p:cNvSpPr txBox="1"/>
          <p:nvPr/>
        </p:nvSpPr>
        <p:spPr>
          <a:xfrm>
            <a:off x="890954" y="454297"/>
            <a:ext cx="8053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The operational problem: useful signal buried in noise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7D8FB2-5A22-1827-55EA-E18BC4AE8DC7}"/>
              </a:ext>
            </a:extLst>
          </p:cNvPr>
          <p:cNvSpPr txBox="1"/>
          <p:nvPr/>
        </p:nvSpPr>
        <p:spPr>
          <a:xfrm>
            <a:off x="1512276" y="3116772"/>
            <a:ext cx="371621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Stakeholder need</a:t>
            </a:r>
          </a:p>
          <a:p>
            <a:endParaRPr lang="en-US" sz="2400" dirty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Reduce review burden without hiding useful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Prioritize likely informative crisis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Preserve accountability through human review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191086-1AB8-A709-CDD9-1DA7ECA2600B}"/>
              </a:ext>
            </a:extLst>
          </p:cNvPr>
          <p:cNvSpPr txBox="1"/>
          <p:nvPr/>
        </p:nvSpPr>
        <p:spPr>
          <a:xfrm>
            <a:off x="6541476" y="3116772"/>
            <a:ext cx="37162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Design principle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r>
              <a:rPr lang="en-US" dirty="0">
                <a:latin typeface="Bahnschrift" panose="020B0502040204020203" pitchFamily="34" charset="0"/>
              </a:rPr>
              <a:t>The model is a triage aid, not an autonomous emergency-response decision-maker</a:t>
            </a:r>
          </a:p>
        </p:txBody>
      </p:sp>
    </p:spTree>
    <p:extLst>
      <p:ext uri="{BB962C8B-B14F-4D97-AF65-F5344CB8AC3E}">
        <p14:creationId xmlns:p14="http://schemas.microsoft.com/office/powerpoint/2010/main" val="148498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9372C-E96F-66D2-47ED-4261AEA13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774351E-994F-CE47-9009-726598A87A1B}"/>
              </a:ext>
            </a:extLst>
          </p:cNvPr>
          <p:cNvSpPr txBox="1"/>
          <p:nvPr/>
        </p:nvSpPr>
        <p:spPr>
          <a:xfrm>
            <a:off x="890954" y="454297"/>
            <a:ext cx="875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Project Objective: route likely informative reports to humans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9572B3-3091-CF89-8A06-0FB84719E538}"/>
              </a:ext>
            </a:extLst>
          </p:cNvPr>
          <p:cNvGrpSpPr/>
          <p:nvPr/>
        </p:nvGrpSpPr>
        <p:grpSpPr>
          <a:xfrm>
            <a:off x="633046" y="1551022"/>
            <a:ext cx="10925907" cy="1031632"/>
            <a:chOff x="890954" y="1336428"/>
            <a:chExt cx="10925907" cy="103163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577CFA8-CE1A-6C1F-97B9-D4F0CA7E7C14}"/>
                </a:ext>
              </a:extLst>
            </p:cNvPr>
            <p:cNvGrpSpPr/>
            <p:nvPr/>
          </p:nvGrpSpPr>
          <p:grpSpPr>
            <a:xfrm>
              <a:off x="890954" y="1336428"/>
              <a:ext cx="8030307" cy="1031632"/>
              <a:chOff x="867508" y="3962399"/>
              <a:chExt cx="8030307" cy="1031632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C57453C8-9CCA-4117-BFA4-E66F636E19BE}"/>
                  </a:ext>
                </a:extLst>
              </p:cNvPr>
              <p:cNvSpPr/>
              <p:nvPr/>
            </p:nvSpPr>
            <p:spPr>
              <a:xfrm>
                <a:off x="867508" y="3962400"/>
                <a:ext cx="2239107" cy="1031631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Bahnschrift" panose="020B0502040204020203" pitchFamily="34" charset="0"/>
                  </a:rPr>
                  <a:t>Public Crisis Message</a:t>
                </a: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6951788E-ECE0-D7DA-9F65-AAD3AA31F612}"/>
                  </a:ext>
                </a:extLst>
              </p:cNvPr>
              <p:cNvCxnSpPr>
                <a:stCxn id="4" idx="3"/>
              </p:cNvCxnSpPr>
              <p:nvPr/>
            </p:nvCxnSpPr>
            <p:spPr>
              <a:xfrm flipV="1">
                <a:off x="3106615" y="4478215"/>
                <a:ext cx="656493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7BE5931-1F01-8D84-1018-C2287B1CAE4F}"/>
                  </a:ext>
                </a:extLst>
              </p:cNvPr>
              <p:cNvSpPr/>
              <p:nvPr/>
            </p:nvSpPr>
            <p:spPr>
              <a:xfrm>
                <a:off x="3763108" y="3962399"/>
                <a:ext cx="2239107" cy="1031631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latin typeface="Bahnschrift" panose="020B0502040204020203" pitchFamily="34" charset="0"/>
                  </a:rPr>
                  <a:t>Text preprocessing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26C4A2D-2394-0D41-6B3E-3A38C615B1E3}"/>
                  </a:ext>
                </a:extLst>
              </p:cNvPr>
              <p:cNvCxnSpPr>
                <a:stCxn id="7" idx="3"/>
              </p:cNvCxnSpPr>
              <p:nvPr/>
            </p:nvCxnSpPr>
            <p:spPr>
              <a:xfrm flipV="1">
                <a:off x="6002215" y="4478214"/>
                <a:ext cx="656493" cy="1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C21D522-0DA4-D4D9-AC1E-CF84084C3414}"/>
                  </a:ext>
                </a:extLst>
              </p:cNvPr>
              <p:cNvSpPr/>
              <p:nvPr/>
            </p:nvSpPr>
            <p:spPr>
              <a:xfrm>
                <a:off x="6658708" y="3962399"/>
                <a:ext cx="2239107" cy="1031631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Classifier + Threshold</a:t>
                </a:r>
              </a:p>
            </p:txBody>
          </p: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1279BA1-6B10-6487-0E32-7EBE9994EDA7}"/>
                </a:ext>
              </a:extLst>
            </p:cNvPr>
            <p:cNvCxnSpPr/>
            <p:nvPr/>
          </p:nvCxnSpPr>
          <p:spPr>
            <a:xfrm flipV="1">
              <a:off x="8921261" y="1852242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DE7374B-FDB2-4173-F0B7-DFA11B7FC06F}"/>
                </a:ext>
              </a:extLst>
            </p:cNvPr>
            <p:cNvSpPr/>
            <p:nvPr/>
          </p:nvSpPr>
          <p:spPr>
            <a:xfrm>
              <a:off x="9577754" y="1336428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Human review queue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E3C3A0-4641-B2CD-4860-0314C5214516}"/>
              </a:ext>
            </a:extLst>
          </p:cNvPr>
          <p:cNvGrpSpPr/>
          <p:nvPr/>
        </p:nvGrpSpPr>
        <p:grpSpPr>
          <a:xfrm>
            <a:off x="633046" y="3429000"/>
            <a:ext cx="10925907" cy="1031632"/>
            <a:chOff x="890954" y="1336428"/>
            <a:chExt cx="10925907" cy="103163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0E2957-D432-472F-E1C2-D24C9472E8DE}"/>
                </a:ext>
              </a:extLst>
            </p:cNvPr>
            <p:cNvGrpSpPr/>
            <p:nvPr/>
          </p:nvGrpSpPr>
          <p:grpSpPr>
            <a:xfrm>
              <a:off x="890954" y="1336428"/>
              <a:ext cx="8030307" cy="1031632"/>
              <a:chOff x="867508" y="3962399"/>
              <a:chExt cx="8030307" cy="1031632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11BC3CC-577E-2845-EDEA-D1BD28BA87AE}"/>
                  </a:ext>
                </a:extLst>
              </p:cNvPr>
              <p:cNvSpPr/>
              <p:nvPr/>
            </p:nvSpPr>
            <p:spPr>
              <a:xfrm>
                <a:off x="867508" y="3962400"/>
                <a:ext cx="2239107" cy="1031631"/>
              </a:xfrm>
              <a:prstGeom prst="roundRect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Bahnschrift" panose="020B0502040204020203" pitchFamily="34" charset="0"/>
                  </a:rPr>
                  <a:t>Informative</a:t>
                </a:r>
              </a:p>
              <a:p>
                <a:pPr algn="ctr"/>
                <a:r>
                  <a:rPr lang="en-US" sz="1400" dirty="0">
                    <a:latin typeface="Bahnschrift" panose="020B0502040204020203" pitchFamily="34" charset="0"/>
                  </a:rPr>
                  <a:t>Positive Class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0E20509E-630E-5B80-254F-B746D3D2E86E}"/>
                  </a:ext>
                </a:extLst>
              </p:cNvPr>
              <p:cNvSpPr/>
              <p:nvPr/>
            </p:nvSpPr>
            <p:spPr>
              <a:xfrm>
                <a:off x="3763108" y="3962399"/>
                <a:ext cx="2239107" cy="1031631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white"/>
                    </a:solidFill>
                    <a:latin typeface="Bahnschrift" panose="020B0502040204020203" pitchFamily="34" charset="0"/>
                  </a:rPr>
                  <a:t>Other Labels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400" dirty="0">
                    <a:solidFill>
                      <a:prstClr val="white"/>
                    </a:solidFill>
                    <a:latin typeface="Bahnschrift" panose="020B0502040204020203" pitchFamily="34" charset="0"/>
                  </a:rPr>
                  <a:t>Negative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 Class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6D7F20C1-ED15-E3A0-0A2C-8207E31B597C}"/>
                  </a:ext>
                </a:extLst>
              </p:cNvPr>
              <p:cNvSpPr/>
              <p:nvPr/>
            </p:nvSpPr>
            <p:spPr>
              <a:xfrm>
                <a:off x="6658708" y="3962399"/>
                <a:ext cx="2239107" cy="1031631"/>
              </a:xfrm>
              <a:prstGeom prst="round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>
                    <a:solidFill>
                      <a:prstClr val="white"/>
                    </a:solidFill>
                    <a:latin typeface="Bahnschrift" panose="020B0502040204020203" pitchFamily="34" charset="0"/>
                  </a:rPr>
                  <a:t>False Negatives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ahnschrift" panose="020B0502040204020203" pitchFamily="34" charset="0"/>
                    <a:ea typeface="+mn-ea"/>
                    <a:cs typeface="+mn-cs"/>
                  </a:rPr>
                  <a:t>Primary Risk</a:t>
                </a:r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E6391CF-1F54-BDE9-222A-58413CFDC81F}"/>
                </a:ext>
              </a:extLst>
            </p:cNvPr>
            <p:cNvSpPr/>
            <p:nvPr/>
          </p:nvSpPr>
          <p:spPr>
            <a:xfrm>
              <a:off x="9577754" y="1336428"/>
              <a:ext cx="2239107" cy="1031631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Do not discard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Policy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5160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3773-4F2D-CE69-06A2-FE947B0F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E27E733-E800-4BB4-3ED4-39007B5A7E06}"/>
              </a:ext>
            </a:extLst>
          </p:cNvPr>
          <p:cNvSpPr txBox="1"/>
          <p:nvPr/>
        </p:nvSpPr>
        <p:spPr>
          <a:xfrm>
            <a:off x="890954" y="454297"/>
            <a:ext cx="875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Data and Modeling Approach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EBA23F3-98F1-79EA-15A2-76DB1F5010ED}"/>
              </a:ext>
            </a:extLst>
          </p:cNvPr>
          <p:cNvGrpSpPr/>
          <p:nvPr/>
        </p:nvGrpSpPr>
        <p:grpSpPr>
          <a:xfrm>
            <a:off x="1485900" y="3897923"/>
            <a:ext cx="9220198" cy="1031632"/>
            <a:chOff x="867508" y="3962399"/>
            <a:chExt cx="8030307" cy="103163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64438FD-6A6D-D263-8B10-0DC36466DC62}"/>
                </a:ext>
              </a:extLst>
            </p:cNvPr>
            <p:cNvSpPr/>
            <p:nvPr/>
          </p:nvSpPr>
          <p:spPr>
            <a:xfrm>
              <a:off x="867508" y="3962400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Baseline</a:t>
              </a:r>
            </a:p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TF-IDF + Logistic regression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CEA12AF-7A6A-EDDC-F500-0AAED9B4E90E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 flipV="1">
              <a:off x="3106615" y="4478215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88DC250-5243-1923-D6E1-38562BFF7236}"/>
                </a:ext>
              </a:extLst>
            </p:cNvPr>
            <p:cNvSpPr/>
            <p:nvPr/>
          </p:nvSpPr>
          <p:spPr>
            <a:xfrm>
              <a:off x="37631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Tuned word model </a:t>
              </a:r>
              <a:r>
                <a:rPr lang="en-US" sz="1400" dirty="0" err="1">
                  <a:latin typeface="Bahnschrift" panose="020B0502040204020203" pitchFamily="34" charset="0"/>
                </a:rPr>
                <a:t>GridSearchCV</a:t>
              </a:r>
              <a:endParaRPr lang="en-US" sz="1400" dirty="0">
                <a:latin typeface="Bahnschrift" panose="020B0502040204020203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F5D6B96-5376-75AC-BE16-A4B45B265B9D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60022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B5B82A2-6922-0C85-4BCE-2DEDE7B57265}"/>
                </a:ext>
              </a:extLst>
            </p:cNvPr>
            <p:cNvSpPr/>
            <p:nvPr/>
          </p:nvSpPr>
          <p:spPr>
            <a:xfrm>
              <a:off x="66587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Hybrid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Word + </a:t>
              </a:r>
              <a:r>
                <a:rPr lang="en-US" sz="14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character n-grams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440781-3E52-B220-6F4F-BF118FFD3FEC}"/>
              </a:ext>
            </a:extLst>
          </p:cNvPr>
          <p:cNvGrpSpPr/>
          <p:nvPr/>
        </p:nvGrpSpPr>
        <p:grpSpPr>
          <a:xfrm>
            <a:off x="761266" y="1166170"/>
            <a:ext cx="10669467" cy="1031635"/>
            <a:chOff x="660886" y="1400632"/>
            <a:chExt cx="10669467" cy="1031635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5538B4-A66E-BD1F-D0B2-F8D2524BC728}"/>
                </a:ext>
              </a:extLst>
            </p:cNvPr>
            <p:cNvSpPr/>
            <p:nvPr/>
          </p:nvSpPr>
          <p:spPr>
            <a:xfrm>
              <a:off x="2860795" y="1400634"/>
              <a:ext cx="1869831" cy="1031631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5</a:t>
              </a:r>
            </a:p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Crisis Events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6E30F0E-C9A5-19C8-072D-BBFC1FE4F5B3}"/>
                </a:ext>
              </a:extLst>
            </p:cNvPr>
            <p:cNvSpPr/>
            <p:nvPr/>
          </p:nvSpPr>
          <p:spPr>
            <a:xfrm>
              <a:off x="5060704" y="1400636"/>
              <a:ext cx="1869831" cy="1031631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2,711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Positive Class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0FEEBCD-3741-B4A1-624E-B4F3DD1892B7}"/>
                </a:ext>
              </a:extLst>
            </p:cNvPr>
            <p:cNvSpPr/>
            <p:nvPr/>
          </p:nvSpPr>
          <p:spPr>
            <a:xfrm>
              <a:off x="7260613" y="1400632"/>
              <a:ext cx="1869831" cy="1031631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2,438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Negative Class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7FA9FB2-9D6E-2E60-C725-3B9622293B45}"/>
                </a:ext>
              </a:extLst>
            </p:cNvPr>
            <p:cNvSpPr/>
            <p:nvPr/>
          </p:nvSpPr>
          <p:spPr>
            <a:xfrm>
              <a:off x="9460522" y="1400632"/>
              <a:ext cx="1869831" cy="1031631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80/20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Initial Split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35A0C39-6B9B-56DF-8B74-DE5762761067}"/>
                </a:ext>
              </a:extLst>
            </p:cNvPr>
            <p:cNvSpPr/>
            <p:nvPr/>
          </p:nvSpPr>
          <p:spPr>
            <a:xfrm>
              <a:off x="660886" y="1400634"/>
              <a:ext cx="1869831" cy="1031631"/>
            </a:xfrm>
            <a:prstGeom prst="round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5,149</a:t>
              </a:r>
            </a:p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Unique Messages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9C15DA5-C102-8933-890C-C84305336BFD}"/>
              </a:ext>
            </a:extLst>
          </p:cNvPr>
          <p:cNvSpPr txBox="1"/>
          <p:nvPr/>
        </p:nvSpPr>
        <p:spPr>
          <a:xfrm>
            <a:off x="647699" y="2762566"/>
            <a:ext cx="1089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Events: Colorado wildfires, Costa Rica earthquake, Boston bombings, Alberta floods, Singapore haze</a:t>
            </a:r>
          </a:p>
        </p:txBody>
      </p:sp>
    </p:spTree>
    <p:extLst>
      <p:ext uri="{BB962C8B-B14F-4D97-AF65-F5344CB8AC3E}">
        <p14:creationId xmlns:p14="http://schemas.microsoft.com/office/powerpoint/2010/main" val="57452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388C-6672-1F61-FD3C-76B76EE0C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A3230898-53EC-3E36-7A33-342B01793A25}"/>
              </a:ext>
            </a:extLst>
          </p:cNvPr>
          <p:cNvSpPr txBox="1"/>
          <p:nvPr/>
        </p:nvSpPr>
        <p:spPr>
          <a:xfrm>
            <a:off x="890954" y="454297"/>
            <a:ext cx="875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Random Test Results Looked Strong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E8C3DF-822B-3514-DF97-007E2531518B}"/>
              </a:ext>
            </a:extLst>
          </p:cNvPr>
          <p:cNvSpPr/>
          <p:nvPr/>
        </p:nvSpPr>
        <p:spPr>
          <a:xfrm>
            <a:off x="7360993" y="2443532"/>
            <a:ext cx="1869831" cy="1031631"/>
          </a:xfrm>
          <a:prstGeom prst="roundRect">
            <a:avLst/>
          </a:prstGeom>
          <a:solidFill>
            <a:srgbClr val="2CA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0.880</a:t>
            </a:r>
          </a:p>
          <a:p>
            <a:pPr algn="ctr"/>
            <a:r>
              <a:rPr lang="en-US" sz="1400" dirty="0">
                <a:latin typeface="Bahnschrift" panose="020B0502040204020203" pitchFamily="34" charset="0"/>
              </a:rPr>
              <a:t>Hybrid recall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3995D50-2502-6992-C5C6-1A9D3C720473}"/>
              </a:ext>
            </a:extLst>
          </p:cNvPr>
          <p:cNvSpPr/>
          <p:nvPr/>
        </p:nvSpPr>
        <p:spPr>
          <a:xfrm>
            <a:off x="9560902" y="2443534"/>
            <a:ext cx="1869831" cy="10316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65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False Negatives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CB932A-1168-1527-F637-0B2F25954A9A}"/>
              </a:ext>
            </a:extLst>
          </p:cNvPr>
          <p:cNvSpPr/>
          <p:nvPr/>
        </p:nvSpPr>
        <p:spPr>
          <a:xfrm>
            <a:off x="7360993" y="1166170"/>
            <a:ext cx="1869831" cy="1031631"/>
          </a:xfrm>
          <a:prstGeom prst="roundRect">
            <a:avLst/>
          </a:prstGeom>
          <a:solidFill>
            <a:srgbClr val="1D76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0.842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Bahnschrift" panose="020B0502040204020203" pitchFamily="34" charset="0"/>
              </a:rPr>
              <a:t>Baseline F1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988559-A9F5-5C40-1F0E-14DE907E55C0}"/>
              </a:ext>
            </a:extLst>
          </p:cNvPr>
          <p:cNvSpPr/>
          <p:nvPr/>
        </p:nvSpPr>
        <p:spPr>
          <a:xfrm>
            <a:off x="9560902" y="1166170"/>
            <a:ext cx="1869831" cy="1031631"/>
          </a:xfrm>
          <a:prstGeom prst="roundRect">
            <a:avLst/>
          </a:prstGeom>
          <a:solidFill>
            <a:srgbClr val="FF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0.847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Hybrid F1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DD030B-7565-2E84-CD78-ADF39E1901F6}"/>
              </a:ext>
            </a:extLst>
          </p:cNvPr>
          <p:cNvSpPr txBox="1"/>
          <p:nvPr/>
        </p:nvSpPr>
        <p:spPr>
          <a:xfrm>
            <a:off x="647700" y="4888069"/>
            <a:ext cx="1089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At threshold 0.47, recall rose to 0.897 and false negatives dropped to 56</a:t>
            </a:r>
          </a:p>
        </p:txBody>
      </p:sp>
      <p:pic>
        <p:nvPicPr>
          <p:cNvPr id="5" name="Image 0" descr="/mnt/data/optimization_results/model_comparison.png">
            <a:extLst>
              <a:ext uri="{FF2B5EF4-FFF2-40B4-BE49-F238E27FC236}">
                <a16:creationId xmlns:a16="http://schemas.microsoft.com/office/drawing/2014/main" id="{7027F380-CCE5-3F0D-93F7-F5F70EF9F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9" y="1166170"/>
            <a:ext cx="6952336" cy="347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20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81DFE-5C86-A392-97D3-8F7039359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EE83AF0-2865-BA72-AC44-DFC855545B4F}"/>
              </a:ext>
            </a:extLst>
          </p:cNvPr>
          <p:cNvSpPr txBox="1"/>
          <p:nvPr/>
        </p:nvSpPr>
        <p:spPr>
          <a:xfrm>
            <a:off x="890954" y="454297"/>
            <a:ext cx="875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Explainability exposed event-specific dependence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540A07-2391-6AC9-168D-E82E6AD6DA9E}"/>
              </a:ext>
            </a:extLst>
          </p:cNvPr>
          <p:cNvSpPr/>
          <p:nvPr/>
        </p:nvSpPr>
        <p:spPr>
          <a:xfrm>
            <a:off x="7360993" y="1477108"/>
            <a:ext cx="3447684" cy="720693"/>
          </a:xfrm>
          <a:prstGeom prst="roundRect">
            <a:avLst/>
          </a:prstGeom>
          <a:solidFill>
            <a:srgbClr val="1D76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What SHAP helped confirm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A7B407-DDDF-9D38-5040-E116C504C7DE}"/>
              </a:ext>
            </a:extLst>
          </p:cNvPr>
          <p:cNvSpPr txBox="1"/>
          <p:nvPr/>
        </p:nvSpPr>
        <p:spPr>
          <a:xfrm>
            <a:off x="6796362" y="2413337"/>
            <a:ext cx="45769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Model cues were inspectable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Some cues were operationally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Others were event-specific vocabulary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Explanations do not prove fairness or correctness</a:t>
            </a:r>
          </a:p>
          <a:p>
            <a:pPr algn="ctr"/>
            <a:endParaRPr lang="en-US" dirty="0">
              <a:latin typeface="Bahnschrift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F2A5A-725E-D551-E93F-6564B7A9B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38" y="980439"/>
            <a:ext cx="6288570" cy="47164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44B8F0-1B30-1995-9D90-017788C9F466}"/>
              </a:ext>
            </a:extLst>
          </p:cNvPr>
          <p:cNvSpPr txBox="1"/>
          <p:nvPr/>
        </p:nvSpPr>
        <p:spPr>
          <a:xfrm>
            <a:off x="6890147" y="4372378"/>
            <a:ext cx="4576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ahnschrift" panose="020B0502040204020203" pitchFamily="34" charset="0"/>
              </a:rPr>
              <a:t>Concern: words like Costa Rica, earthquake, fire, and PSI can reflect crisis identity as much as informativeness</a:t>
            </a:r>
          </a:p>
        </p:txBody>
      </p:sp>
    </p:spTree>
    <p:extLst>
      <p:ext uri="{BB962C8B-B14F-4D97-AF65-F5344CB8AC3E}">
        <p14:creationId xmlns:p14="http://schemas.microsoft.com/office/powerpoint/2010/main" val="321654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DD5D-7DEE-B461-B4C6-08D89366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912B70F0-A2A9-8912-2944-249CBF4A561D}"/>
              </a:ext>
            </a:extLst>
          </p:cNvPr>
          <p:cNvSpPr txBox="1"/>
          <p:nvPr/>
        </p:nvSpPr>
        <p:spPr>
          <a:xfrm>
            <a:off x="890954" y="454297"/>
            <a:ext cx="8757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Robustness test: train on four crises, test on the fifth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9E7ACBA-4D50-EDB3-6601-AC473FC063BB}"/>
              </a:ext>
            </a:extLst>
          </p:cNvPr>
          <p:cNvSpPr/>
          <p:nvPr/>
        </p:nvSpPr>
        <p:spPr>
          <a:xfrm>
            <a:off x="7360993" y="2443532"/>
            <a:ext cx="1869831" cy="1031631"/>
          </a:xfrm>
          <a:prstGeom prst="roundRect">
            <a:avLst/>
          </a:prstGeom>
          <a:solidFill>
            <a:srgbClr val="2CA0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0.661</a:t>
            </a:r>
          </a:p>
          <a:p>
            <a:pPr algn="ctr"/>
            <a:r>
              <a:rPr lang="en-US" sz="1400" dirty="0">
                <a:latin typeface="Bahnschrift" panose="020B0502040204020203" pitchFamily="34" charset="0"/>
              </a:rPr>
              <a:t>Either model F1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DAF9CF-0524-1445-5846-CE0196261152}"/>
              </a:ext>
            </a:extLst>
          </p:cNvPr>
          <p:cNvSpPr/>
          <p:nvPr/>
        </p:nvSpPr>
        <p:spPr>
          <a:xfrm>
            <a:off x="9560902" y="2443534"/>
            <a:ext cx="1869831" cy="103163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Varia</a:t>
            </a:r>
            <a:r>
              <a:rPr lang="en-US" dirty="0" err="1">
                <a:solidFill>
                  <a:prstClr val="white"/>
                </a:solidFill>
                <a:latin typeface="Bahnschrift" panose="020B0502040204020203" pitchFamily="34" charset="0"/>
              </a:rPr>
              <a:t>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Bahnschrift" panose="020B0502040204020203" pitchFamily="34" charset="0"/>
              </a:rPr>
              <a:t>Key issue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6850CD-67D3-BBB7-A952-391E7C1EC9B3}"/>
              </a:ext>
            </a:extLst>
          </p:cNvPr>
          <p:cNvSpPr/>
          <p:nvPr/>
        </p:nvSpPr>
        <p:spPr>
          <a:xfrm>
            <a:off x="7360993" y="1166170"/>
            <a:ext cx="1869831" cy="1031631"/>
          </a:xfrm>
          <a:prstGeom prst="roundRect">
            <a:avLst/>
          </a:prstGeom>
          <a:solidFill>
            <a:srgbClr val="1D76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0.628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white"/>
                </a:solidFill>
                <a:latin typeface="Bahnschrift" panose="020B0502040204020203" pitchFamily="34" charset="0"/>
              </a:rPr>
              <a:t>Pooled Baseline F1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E2D290-39D7-053E-3541-F416D8B45C17}"/>
              </a:ext>
            </a:extLst>
          </p:cNvPr>
          <p:cNvSpPr/>
          <p:nvPr/>
        </p:nvSpPr>
        <p:spPr>
          <a:xfrm>
            <a:off x="9560902" y="1166170"/>
            <a:ext cx="1869831" cy="1031631"/>
          </a:xfrm>
          <a:prstGeom prst="roundRect">
            <a:avLst/>
          </a:prstGeom>
          <a:solidFill>
            <a:srgbClr val="FF7F0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Bahnschrift" panose="020B0502040204020203" pitchFamily="34" charset="0"/>
              </a:rPr>
              <a:t>0.634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Pooled Hybrid F1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C9E0A2-F65E-53BB-B9F1-525672DD0EE4}"/>
              </a:ext>
            </a:extLst>
          </p:cNvPr>
          <p:cNvSpPr txBox="1"/>
          <p:nvPr/>
        </p:nvSpPr>
        <p:spPr>
          <a:xfrm>
            <a:off x="647700" y="4888069"/>
            <a:ext cx="1089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Random-split performance was optimistic; event-level generalization is the real test.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36C82F-3D0D-DE1D-8FE8-777E05B2F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37" y="1334622"/>
            <a:ext cx="6492803" cy="32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0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164BC-8436-D2CD-EB4E-C2C7B20C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852A76A-4725-1222-AAED-41A1FCF3AF30}"/>
              </a:ext>
            </a:extLst>
          </p:cNvPr>
          <p:cNvSpPr txBox="1"/>
          <p:nvPr/>
        </p:nvSpPr>
        <p:spPr>
          <a:xfrm>
            <a:off x="890954" y="454297"/>
            <a:ext cx="973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Debugging finding: complementary errors suggested a guardrail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D73EF4-4B66-0627-A655-A3352FCC76C9}"/>
              </a:ext>
            </a:extLst>
          </p:cNvPr>
          <p:cNvGrpSpPr/>
          <p:nvPr/>
        </p:nvGrpSpPr>
        <p:grpSpPr>
          <a:xfrm>
            <a:off x="1485899" y="3552364"/>
            <a:ext cx="9220198" cy="1031632"/>
            <a:chOff x="867508" y="3962399"/>
            <a:chExt cx="8030307" cy="103163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797AABB7-55F1-C137-8A5C-28774E1E364F}"/>
                </a:ext>
              </a:extLst>
            </p:cNvPr>
            <p:cNvSpPr/>
            <p:nvPr/>
          </p:nvSpPr>
          <p:spPr>
            <a:xfrm>
              <a:off x="867508" y="3962400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Baseline flags positive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048A3C5-5357-3473-0EF4-CE5E3E46A266}"/>
                </a:ext>
              </a:extLst>
            </p:cNvPr>
            <p:cNvSpPr/>
            <p:nvPr/>
          </p:nvSpPr>
          <p:spPr>
            <a:xfrm>
              <a:off x="37631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Bahnschrift" panose="020B0502040204020203" pitchFamily="34" charset="0"/>
                </a:rPr>
                <a:t>Hybrid flags positive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EAAAFAD-502E-3EB6-587C-F24DA7BB4600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60022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224FE8E-762B-E2A5-BF93-5987B2AF8483}"/>
                </a:ext>
              </a:extLst>
            </p:cNvPr>
            <p:cNvSpPr/>
            <p:nvPr/>
          </p:nvSpPr>
          <p:spPr>
            <a:xfrm>
              <a:off x="66587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Elevate to human review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561786C-7373-C0D8-CEBB-AA9025950FC0}"/>
              </a:ext>
            </a:extLst>
          </p:cNvPr>
          <p:cNvGrpSpPr/>
          <p:nvPr/>
        </p:nvGrpSpPr>
        <p:grpSpPr>
          <a:xfrm>
            <a:off x="761266" y="1166170"/>
            <a:ext cx="10669467" cy="1031635"/>
            <a:chOff x="660886" y="1400632"/>
            <a:chExt cx="10669467" cy="1031635"/>
          </a:xfrm>
          <a:solidFill>
            <a:srgbClr val="00B050"/>
          </a:solidFill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4068264-1A4D-1A50-5016-3588C854AC31}"/>
                </a:ext>
              </a:extLst>
            </p:cNvPr>
            <p:cNvSpPr/>
            <p:nvPr/>
          </p:nvSpPr>
          <p:spPr>
            <a:xfrm>
              <a:off x="2860795" y="1400634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316</a:t>
              </a:r>
            </a:p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Baseline correct when hybrid missed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E6FE044-B203-D637-0823-01958CE53B27}"/>
                </a:ext>
              </a:extLst>
            </p:cNvPr>
            <p:cNvSpPr/>
            <p:nvPr/>
          </p:nvSpPr>
          <p:spPr>
            <a:xfrm>
              <a:off x="5060704" y="1400636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185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Extra informative messages caught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FE5F625-9C2A-00DC-238A-78F006096A9C}"/>
                </a:ext>
              </a:extLst>
            </p:cNvPr>
            <p:cNvSpPr/>
            <p:nvPr/>
          </p:nvSpPr>
          <p:spPr>
            <a:xfrm>
              <a:off x="7260613" y="1400632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52.1%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Review Rate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30AC7A9-AFD9-FB51-A072-3DB50E264EA8}"/>
                </a:ext>
              </a:extLst>
            </p:cNvPr>
            <p:cNvSpPr/>
            <p:nvPr/>
          </p:nvSpPr>
          <p:spPr>
            <a:xfrm>
              <a:off x="9460522" y="1400632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928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False Negatives Down from 1,113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E49DDB4-53EF-2D61-4B97-4BCEE54C719E}"/>
                </a:ext>
              </a:extLst>
            </p:cNvPr>
            <p:cNvSpPr/>
            <p:nvPr/>
          </p:nvSpPr>
          <p:spPr>
            <a:xfrm>
              <a:off x="660886" y="1400634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375</a:t>
              </a:r>
            </a:p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Hybrid correct when baseline missed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C457E0-E1E4-BC96-B082-39E596DF420F}"/>
              </a:ext>
            </a:extLst>
          </p:cNvPr>
          <p:cNvSpPr txBox="1"/>
          <p:nvPr/>
        </p:nvSpPr>
        <p:spPr>
          <a:xfrm>
            <a:off x="647698" y="5099810"/>
            <a:ext cx="10896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Guardrail: use models to expand review coverage, not to suppress reports.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C55FB-B09C-A66A-BDFD-EA648FA05752}"/>
              </a:ext>
            </a:extLst>
          </p:cNvPr>
          <p:cNvSpPr txBox="1"/>
          <p:nvPr/>
        </p:nvSpPr>
        <p:spPr>
          <a:xfrm>
            <a:off x="4140226" y="3883513"/>
            <a:ext cx="58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latin typeface="Bahnschrift" panose="020B0502040204020203" pitchFamily="34" charset="0"/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72603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DF230-4E31-2F95-AC88-19E085E8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1BF0A74-CB59-E0EE-F8D4-2AC96CBFA5CE}"/>
              </a:ext>
            </a:extLst>
          </p:cNvPr>
          <p:cNvSpPr txBox="1"/>
          <p:nvPr/>
        </p:nvSpPr>
        <p:spPr>
          <a:xfrm>
            <a:off x="890954" y="454297"/>
            <a:ext cx="973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Recommended deployment: cautious, monitored, human-in-the-loop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9FF98-905B-6F73-0B15-B65EB15740C6}"/>
              </a:ext>
            </a:extLst>
          </p:cNvPr>
          <p:cNvSpPr txBox="1"/>
          <p:nvPr/>
        </p:nvSpPr>
        <p:spPr>
          <a:xfrm>
            <a:off x="647700" y="3429000"/>
            <a:ext cx="10896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Return prediction, probability, model version, and review recommendation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Keep thresholds configurable and stakeholder-approved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Monitor drift, review rate, event-level errors, and rollback triggers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" panose="020B0502040204020203" pitchFamily="34" charset="0"/>
              </a:rPr>
              <a:t>Use security controls: authentication, input validation, rate limits, minimal logging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2F5C08D-F7C5-CCAC-2F5A-BCE09A3ACE5B}"/>
              </a:ext>
            </a:extLst>
          </p:cNvPr>
          <p:cNvGrpSpPr/>
          <p:nvPr/>
        </p:nvGrpSpPr>
        <p:grpSpPr>
          <a:xfrm>
            <a:off x="618390" y="1200706"/>
            <a:ext cx="10925907" cy="1031633"/>
            <a:chOff x="867508" y="3962398"/>
            <a:chExt cx="10925907" cy="103163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F053160-B4CD-9555-9DDC-1A9C7633F90F}"/>
                </a:ext>
              </a:extLst>
            </p:cNvPr>
            <p:cNvSpPr/>
            <p:nvPr/>
          </p:nvSpPr>
          <p:spPr>
            <a:xfrm>
              <a:off x="867508" y="3962400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latin typeface="Bahnschrift" panose="020B0502040204020203" pitchFamily="34" charset="0"/>
                </a:rPr>
                <a:t>FastAPI</a:t>
              </a:r>
              <a:r>
                <a:rPr lang="en-US" dirty="0">
                  <a:latin typeface="Bahnschrift" panose="020B0502040204020203" pitchFamily="34" charset="0"/>
                </a:rPr>
                <a:t> service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EABDBD0-3163-CB0F-5EC1-E644CE004518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3106615" y="4478215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DAD45DA-7334-8CAC-946B-81D7EFB421B8}"/>
                </a:ext>
              </a:extLst>
            </p:cNvPr>
            <p:cNvSpPr/>
            <p:nvPr/>
          </p:nvSpPr>
          <p:spPr>
            <a:xfrm>
              <a:off x="37631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Model + Threshold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254D99C-31CF-ADBF-427A-B4CA863A5EEB}"/>
                </a:ext>
              </a:extLst>
            </p:cNvPr>
            <p:cNvCxnSpPr>
              <a:stCxn id="12" idx="3"/>
            </p:cNvCxnSpPr>
            <p:nvPr/>
          </p:nvCxnSpPr>
          <p:spPr>
            <a:xfrm flipV="1">
              <a:off x="60022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58DD64B-1AB9-D3A6-C418-545CB0C363C8}"/>
                </a:ext>
              </a:extLst>
            </p:cNvPr>
            <p:cNvSpPr/>
            <p:nvPr/>
          </p:nvSpPr>
          <p:spPr>
            <a:xfrm>
              <a:off x="6658708" y="3962399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Review Queue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05FB1BD-F74C-9D35-CE6E-A51CA0CF9DF4}"/>
                </a:ext>
              </a:extLst>
            </p:cNvPr>
            <p:cNvCxnSpPr>
              <a:stCxn id="15" idx="3"/>
            </p:cNvCxnSpPr>
            <p:nvPr/>
          </p:nvCxnSpPr>
          <p:spPr>
            <a:xfrm flipV="1">
              <a:off x="8897815" y="4478214"/>
              <a:ext cx="656493" cy="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3024EF1-B179-90F2-A43B-8BC4F7F3EF07}"/>
                </a:ext>
              </a:extLst>
            </p:cNvPr>
            <p:cNvSpPr/>
            <p:nvPr/>
          </p:nvSpPr>
          <p:spPr>
            <a:xfrm>
              <a:off x="9554308" y="3962398"/>
              <a:ext cx="2239107" cy="1031631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Audit Dashboard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3577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D010-A4C6-5C5D-631E-03813475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0771281F-C14D-7612-225A-A09C8C4079A6}"/>
              </a:ext>
            </a:extLst>
          </p:cNvPr>
          <p:cNvSpPr txBox="1"/>
          <p:nvPr/>
        </p:nvSpPr>
        <p:spPr>
          <a:xfrm>
            <a:off x="890954" y="454297"/>
            <a:ext cx="97301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Conclusion: feasible triage support, not autonomous filtering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F84B56-FFAD-8342-0DDF-35F25262F152}"/>
              </a:ext>
            </a:extLst>
          </p:cNvPr>
          <p:cNvSpPr/>
          <p:nvPr/>
        </p:nvSpPr>
        <p:spPr>
          <a:xfrm>
            <a:off x="4470587" y="2913185"/>
            <a:ext cx="2570887" cy="615462"/>
          </a:xfrm>
          <a:prstGeom prst="round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Bahnschrift" panose="020B0502040204020203" pitchFamily="34" charset="0"/>
              </a:rPr>
              <a:t>Final Recommendation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856661-E0E3-DF77-2A45-47EADBC37898}"/>
              </a:ext>
            </a:extLst>
          </p:cNvPr>
          <p:cNvGrpSpPr/>
          <p:nvPr/>
        </p:nvGrpSpPr>
        <p:grpSpPr>
          <a:xfrm>
            <a:off x="1521252" y="1150665"/>
            <a:ext cx="8469558" cy="1031635"/>
            <a:chOff x="660886" y="1400632"/>
            <a:chExt cx="8469558" cy="1031635"/>
          </a:xfrm>
          <a:solidFill>
            <a:srgbClr val="00B050"/>
          </a:solidFill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C25E70B-3080-CA37-BE12-E61BBD46F6C5}"/>
                </a:ext>
              </a:extLst>
            </p:cNvPr>
            <p:cNvSpPr/>
            <p:nvPr/>
          </p:nvSpPr>
          <p:spPr>
            <a:xfrm>
              <a:off x="2860795" y="1400634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0.897</a:t>
              </a:r>
            </a:p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Best random recall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7D697E5-0543-2E49-F097-F9C87B4C8337}"/>
                </a:ext>
              </a:extLst>
            </p:cNvPr>
            <p:cNvSpPr/>
            <p:nvPr/>
          </p:nvSpPr>
          <p:spPr>
            <a:xfrm>
              <a:off x="5060704" y="1400636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0.658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Cross-event recall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31C889E-D670-509A-7BAA-5C1A49ABDED0}"/>
                </a:ext>
              </a:extLst>
            </p:cNvPr>
            <p:cNvSpPr/>
            <p:nvPr/>
          </p:nvSpPr>
          <p:spPr>
            <a:xfrm>
              <a:off x="7260613" y="1400632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ahnschrift" panose="020B0502040204020203" pitchFamily="34" charset="0"/>
                  <a:ea typeface="+mn-ea"/>
                  <a:cs typeface="+mn-cs"/>
                </a:rPr>
                <a:t>Generalize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white"/>
                  </a:solidFill>
                  <a:latin typeface="Bahnschrift" panose="020B0502040204020203" pitchFamily="34" charset="0"/>
                </a:rPr>
                <a:t>Core limitation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DE25E59-8B80-88C3-3F53-BE9EBF01AEF3}"/>
                </a:ext>
              </a:extLst>
            </p:cNvPr>
            <p:cNvSpPr/>
            <p:nvPr/>
          </p:nvSpPr>
          <p:spPr>
            <a:xfrm>
              <a:off x="660886" y="1400634"/>
              <a:ext cx="1869831" cy="1031631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Bahnschrift" panose="020B0502040204020203" pitchFamily="34" charset="0"/>
                </a:rPr>
                <a:t>Yes</a:t>
              </a:r>
            </a:p>
            <a:p>
              <a:pPr algn="ctr"/>
              <a:r>
                <a:rPr lang="en-US" sz="1200" dirty="0">
                  <a:latin typeface="Bahnschrift" panose="020B0502040204020203" pitchFamily="34" charset="0"/>
                </a:rPr>
                <a:t>Feasible baseline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A019EDDF-204F-32DE-F269-3679560D47DE}"/>
              </a:ext>
            </a:extLst>
          </p:cNvPr>
          <p:cNvSpPr txBox="1"/>
          <p:nvPr/>
        </p:nvSpPr>
        <p:spPr>
          <a:xfrm>
            <a:off x="934366" y="4179519"/>
            <a:ext cx="9973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ahnschrift" panose="020B0502040204020203" pitchFamily="34" charset="0"/>
              </a:rPr>
              <a:t>Deploy only as a monitored human-review prioritization system that preserves borderline reports, audits event-level errors, and never automatically discards crisis messages.</a:t>
            </a:r>
          </a:p>
        </p:txBody>
      </p:sp>
    </p:spTree>
    <p:extLst>
      <p:ext uri="{BB962C8B-B14F-4D97-AF65-F5344CB8AC3E}">
        <p14:creationId xmlns:p14="http://schemas.microsoft.com/office/powerpoint/2010/main" val="3605291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461</Words>
  <Application>Microsoft Office PowerPoint</Application>
  <PresentationFormat>Widescreen</PresentationFormat>
  <Paragraphs>114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Bahnschrift</vt:lpstr>
      <vt:lpstr>Office Theme</vt:lpstr>
      <vt:lpstr>Policy Aware, Explainable AI for Open-Source Crisis Report Triage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Schoch</dc:creator>
  <cp:lastModifiedBy>Sean Schoch</cp:lastModifiedBy>
  <cp:revision>1</cp:revision>
  <dcterms:created xsi:type="dcterms:W3CDTF">2026-08-16T17:35:00Z</dcterms:created>
  <dcterms:modified xsi:type="dcterms:W3CDTF">2026-08-16T21:23:05Z</dcterms:modified>
</cp:coreProperties>
</file>